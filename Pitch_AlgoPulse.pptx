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4285F4"/>
                </a:solidFill>
              </a:defRPr>
            </a:pPr>
            <a:r>
              <a:t>⚡ NEXT-GEN DEVELOPER PEDAGOGY &amp; SKILL INTELLIGENCE</a:t>
            </a:r>
          </a:p>
          <a:p>
            <a:pPr>
              <a:spcAft>
                <a:spcPts val="1200"/>
              </a:spcAft>
              <a:defRPr sz="5400" b="1">
                <a:solidFill>
                  <a:srgbClr val="F0F6FC"/>
                </a:solidFill>
              </a:defRPr>
            </a:pPr>
            <a:r>
              <a:t>AlgoPulse</a:t>
            </a:r>
          </a:p>
          <a:p>
            <a:pPr>
              <a:spcAft>
                <a:spcPts val="2400"/>
              </a:spcAft>
              <a:defRPr sz="2200">
                <a:solidFill>
                  <a:srgbClr val="34A853"/>
                </a:solidFill>
              </a:defRPr>
            </a:pPr>
            <a:r>
              <a:t>Beyond the Binary Verdict: Real-Time Algorithmic Code Review &amp; Career Readiness</a:t>
            </a:r>
          </a:p>
          <a:p>
            <a:pPr>
              <a:defRPr sz="1500">
                <a:solidFill>
                  <a:srgbClr val="8B949E"/>
                </a:solidFill>
              </a:defRPr>
            </a:pPr>
            <a:r>
              <a:t>A multi-platform developer ecosystem uniting Chrome, VS Code, and Next.js to evaluate problem-solving approaches, uncover paradigm blind spots, and guarantee interview retention.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THE ORIGIN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How We Got This Idea: The 'Accepted'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Every developer knows the relief of seeing green text on LeetCode. But is green code really good code?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73152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6517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The False Sense of Security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EA4335"/>
                </a:solidFill>
              </a:rPr>
              <a:t>The Trap: </a:t>
            </a:r>
            <a:r>
              <a:rPr b="0" sz="1400">
                <a:solidFill>
                  <a:srgbClr val="F0F6FC"/>
                </a:solidFill>
              </a:rPr>
              <a:t>You write an O(N²) brute-force solution. The judge accepts it because the test inputs happen to be small.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EA4335"/>
                </a:solidFill>
              </a:rPr>
              <a:t>The Illusion: </a:t>
            </a:r>
            <a:r>
              <a:rPr b="0" sz="1400">
                <a:solidFill>
                  <a:srgbClr val="F0F6FC"/>
                </a:solidFill>
              </a:rPr>
              <a:t>You feel ready and confident because the platform gave you an 'Accepted' verdict.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EA4335"/>
                </a:solidFill>
              </a:rPr>
              <a:t>The Reality: </a:t>
            </a:r>
            <a:r>
              <a:rPr b="0" sz="1400">
                <a:solidFill>
                  <a:srgbClr val="F0F6FC"/>
                </a:solidFill>
              </a:rPr>
              <a:t>In a Tier-1 tech interview, passing tests is only step one. An O(N²) solution when O(N) exists is an instant rejection.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291840" cy="73152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86000"/>
            <a:ext cx="26517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The Context-Switch Friction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The Split: </a:t>
            </a:r>
            <a:r>
              <a:rPr b="0" sz="1400">
                <a:solidFill>
                  <a:srgbClr val="F0F6FC"/>
                </a:solidFill>
              </a:rPr>
              <a:t>We practice algorithms in the web browser, but we build real software in VS Code.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The Disconnect: </a:t>
            </a:r>
            <a:r>
              <a:rPr b="0" sz="1400">
                <a:solidFill>
                  <a:srgbClr val="F0F6FC"/>
                </a:solidFill>
              </a:rPr>
              <a:t>No existing tool connects your daily local engineering with your competitive programming streak.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The Pain: </a:t>
            </a:r>
            <a:r>
              <a:rPr b="0" sz="1400">
                <a:solidFill>
                  <a:srgbClr val="F0F6FC"/>
                </a:solidFill>
              </a:rPr>
              <a:t>Your growth data is scattered across three platforms and lost in private scratchpad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918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7315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26517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The Forgetting Curve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The Reality: </a:t>
            </a:r>
            <a:r>
              <a:rPr b="0" sz="1400">
                <a:solidFill>
                  <a:srgbClr val="F0F6FC"/>
                </a:solidFill>
              </a:rPr>
              <a:t>You solve 100 problems this month. Two months later, you can barely solve Two Sum.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The Cause: </a:t>
            </a:r>
            <a:r>
              <a:rPr b="0" sz="1400">
                <a:solidFill>
                  <a:srgbClr val="F0F6FC"/>
                </a:solidFill>
              </a:rPr>
              <a:t>No platform models Ebbinghaus memory decay or reminds you before mental extinction occurs.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The Goal: </a:t>
            </a:r>
            <a:r>
              <a:rPr b="0" sz="1400">
                <a:solidFill>
                  <a:srgbClr val="F0F6FC"/>
                </a:solidFill>
              </a:rPr>
              <a:t>We needed a personal AI senior engineer living in our workflow that coaches us continuously.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MARKET GAP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Why This Approach? (And Why Not The Others?)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Existing alternatives either grade blindly, spoil the answer, or miss algorithmic semantics.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73152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6517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Traditional Judges (LeetCode/GFG)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EA4335"/>
                </a:solidFill>
              </a:rPr>
              <a:t>Limitation 1: </a:t>
            </a:r>
            <a:r>
              <a:rPr b="0" sz="1400">
                <a:solidFill>
                  <a:srgbClr val="F0F6FC"/>
                </a:solidFill>
              </a:rPr>
              <a:t>Binary verdict only (Pass vs. Fail). Zero feedback on algorithmic style or invariants.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EA4335"/>
                </a:solidFill>
              </a:rPr>
              <a:t>Limitation 2: </a:t>
            </a:r>
            <a:r>
              <a:rPr b="0" sz="1400">
                <a:solidFill>
                  <a:srgbClr val="F0F6FC"/>
                </a:solidFill>
              </a:rPr>
              <a:t>Server CPU noise causes 40ms vs. 80ms runtime swings for identical code.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EA4335"/>
                </a:solidFill>
              </a:rPr>
              <a:t>Limitation 3: </a:t>
            </a:r>
            <a:r>
              <a:rPr b="0" sz="1400">
                <a:solidFill>
                  <a:srgbClr val="F0F6FC"/>
                </a:solidFill>
              </a:rPr>
              <a:t>Does not tell you if you used the right mental model or if your memory was wasteful.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291840" cy="73152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86000"/>
            <a:ext cx="26517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Raw ChatGPT / Chat LLMs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Limitation 1: </a:t>
            </a:r>
            <a:r>
              <a:rPr b="0" sz="1400">
                <a:solidFill>
                  <a:srgbClr val="F0F6FC"/>
                </a:solidFill>
              </a:rPr>
              <a:t>Spoils the answer immediately, completely destroying the learning and recall struggle.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Limitation 2: </a:t>
            </a:r>
            <a:r>
              <a:rPr b="0" sz="1400">
                <a:solidFill>
                  <a:srgbClr val="F0F6FC"/>
                </a:solidFill>
              </a:rPr>
              <a:t>High context friction: requires copy-pasting code, problem descriptions, and constraints.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Limitation 3: </a:t>
            </a:r>
            <a:r>
              <a:rPr b="0" sz="1400">
                <a:solidFill>
                  <a:srgbClr val="F0F6FC"/>
                </a:solidFill>
              </a:rPr>
              <a:t>No persistent tracking: does not remember your streaks, paradigms, or weak spots.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918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7315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26517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AlgoPulse: The In-Flow Mentor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In-Editor Flow: </a:t>
            </a:r>
            <a:r>
              <a:rPr b="0" sz="1400">
                <a:solidFill>
                  <a:srgbClr val="F0F6FC"/>
                </a:solidFill>
              </a:rPr>
              <a:t>Reviews code directly in LeetCode, GFG, HackerRank, and VS Code with 1 click.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4-Pillar Model: </a:t>
            </a:r>
            <a:r>
              <a:rPr b="0" sz="1400">
                <a:solidFill>
                  <a:srgbClr val="F0F6FC"/>
                </a:solidFill>
              </a:rPr>
              <a:t>Scores Optimality, Time, Space, and Cleanliness on a calibrated 100-point rubric.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Pedagogical Hints: </a:t>
            </a:r>
            <a:r>
              <a:rPr b="0" sz="1400">
                <a:solidFill>
                  <a:srgbClr val="F0F6FC"/>
                </a:solidFill>
              </a:rPr>
              <a:t>3 progressive tiers nudge your thinking without ever spoiling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EVERYDAY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How AlgoPulse Transforms Everyday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Designed for daily use by working engineers, college students, and technical interview candidates.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7315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4805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1. Daily Problem Solving &amp; Interview Prep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Zero Context-Switching: </a:t>
            </a:r>
            <a:r>
              <a:rPr b="0" sz="1400">
                <a:solidFill>
                  <a:srgbClr val="F0F6FC"/>
                </a:solidFill>
              </a:rPr>
              <a:t>Click 'Analyze Code' directly on LeetCode or press Ctrl+Alt+A in VS Code. Never leave your editor.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Immediate Pedagogical Hints: </a:t>
            </a:r>
            <a:r>
              <a:rPr b="0" sz="1400">
                <a:solidFill>
                  <a:srgbClr val="F0F6FC"/>
                </a:solidFill>
              </a:rPr>
              <a:t>Stuck on a tricky problem? Reveal Tier 1 (an invariant nudge) or Tier 2 (a pattern nudge) without giving away the solution.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Memory Decay Protection: </a:t>
            </a:r>
            <a:r>
              <a:rPr b="0" sz="1400">
                <a:solidFill>
                  <a:srgbClr val="F0F6FC"/>
                </a:solidFill>
              </a:rPr>
              <a:t>The dashboard automatically alerts you when high-yield patterns are about to fade from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120640" cy="7315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4805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2. Real-World Engineering &amp; Clean Code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Space &amp; Time Consciousness: </a:t>
            </a:r>
            <a:r>
              <a:rPr b="0" sz="1400">
                <a:solidFill>
                  <a:srgbClr val="F0F6FC"/>
                </a:solidFill>
              </a:rPr>
              <a:t>Highlights hidden O(N) memory allocations (like string slicing or unneeded hash tables) before code hits production.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Senior Interview Preparation: </a:t>
            </a:r>
            <a:r>
              <a:rPr b="0" sz="1400">
                <a:solidFill>
                  <a:srgbClr val="F0F6FC"/>
                </a:solidFill>
              </a:rPr>
              <a:t>Generates real follow-up questions: 'What if N = 10¹²?' or 'Can you solve this with O(1) space?'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Verified Proof of Consistency: </a:t>
            </a:r>
            <a:r>
              <a:rPr b="0" sz="1400">
                <a:solidFill>
                  <a:srgbClr val="F0F6FC"/>
                </a:solidFill>
              </a:rPr>
              <a:t>Share a public authenticated transcript with engineering recruiters showing real streaks and paradigm mastery.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System Architecture &amp; Live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High-performance client extensions communicating with a zero-cost AI engine and reactive web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7315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1828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Client Layer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Chrome Ext (MV3): </a:t>
            </a:r>
            <a:r>
              <a:rPr b="0" sz="1400">
                <a:solidFill>
                  <a:srgbClr val="F0F6FC"/>
                </a:solidFill>
              </a:rPr>
              <a:t>Injects into Monaco (LeetCode), Ace (GFG), &amp; CodeMirror (HackerRank).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VS Code Ext: </a:t>
            </a:r>
            <a:r>
              <a:rPr b="0" sz="1400">
                <a:solidFill>
                  <a:srgbClr val="F0F6FC"/>
                </a:solidFill>
              </a:rPr>
              <a:t>TypeScript extension using active TextEditor buffer and Webview panel.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Zero Friction: </a:t>
            </a:r>
            <a:r>
              <a:rPr b="0" sz="1400">
                <a:solidFill>
                  <a:srgbClr val="F0F6FC"/>
                </a:solidFill>
              </a:rPr>
              <a:t>Native hotkeys and slide-over panels.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46888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468880" cy="73152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286000"/>
            <a:ext cx="1828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AI Engine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Google Gemini API: </a:t>
            </a:r>
            <a:r>
              <a:rPr b="0" sz="1400">
                <a:solidFill>
                  <a:srgbClr val="F0F6FC"/>
                </a:solidFill>
              </a:rPr>
              <a:t>Dynamic model discovery via Google ModelService.ListModels API (3.7/3.6/3.8 Flash).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Zero Hardcoding: </a:t>
            </a:r>
            <a:r>
              <a:rPr b="0" sz="1400">
                <a:solidFill>
                  <a:srgbClr val="F0F6FC"/>
                </a:solidFill>
              </a:rPr>
              <a:t>Auto-detects live supported models with fallback resilience.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Zero Latency: </a:t>
            </a:r>
            <a:r>
              <a:rPr b="0" sz="1400">
                <a:solidFill>
                  <a:srgbClr val="F0F6FC"/>
                </a:solidFill>
              </a:rPr>
              <a:t>Sub-2-second evaluation turnaround with strict JSON formatting.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46888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468880" cy="7315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286000"/>
            <a:ext cx="1828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Web Dashboard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Next.js 14 App: </a:t>
            </a:r>
            <a:r>
              <a:rPr b="0" sz="1400">
                <a:solidFill>
                  <a:srgbClr val="F0F6FC"/>
                </a:solidFill>
              </a:rPr>
              <a:t>React 18, Tailwind CSS, and GitHub dark styling.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Dynamic Theme: </a:t>
            </a:r>
            <a:r>
              <a:rPr b="0" sz="1400">
                <a:solidFill>
                  <a:srgbClr val="F0F6FC"/>
                </a:solidFill>
              </a:rPr>
              <a:t>Google 4-color ambient glowing lighting.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Live Polling: </a:t>
            </a:r>
            <a:r>
              <a:rPr b="0" sz="1400">
                <a:solidFill>
                  <a:srgbClr val="F0F6FC"/>
                </a:solidFill>
              </a:rPr>
              <a:t>5-second non-intrusive sync with live activity badges.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011680"/>
            <a:ext cx="246888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0" y="2011680"/>
            <a:ext cx="2468880" cy="73152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286000"/>
            <a:ext cx="182880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Hybrid Storage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EA4335"/>
                </a:solidFill>
              </a:rPr>
              <a:t>Supabase DB: </a:t>
            </a:r>
            <a:r>
              <a:rPr b="0" sz="1400">
                <a:solidFill>
                  <a:srgbClr val="F0F6FC"/>
                </a:solidFill>
              </a:rPr>
              <a:t>PostgreSQL database with Row Level Security.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EA4335"/>
                </a:solidFill>
              </a:rPr>
              <a:t>Local Mirroring: </a:t>
            </a:r>
            <a:r>
              <a:rPr b="0" sz="1400">
                <a:solidFill>
                  <a:srgbClr val="F0F6FC"/>
                </a:solidFill>
              </a:rPr>
              <a:t>Automatic JSON fallback for 100% offline functionality.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EA4335"/>
                </a:solidFill>
              </a:rPr>
              <a:t>Token Security: </a:t>
            </a:r>
            <a:r>
              <a:rPr b="0" sz="1400">
                <a:solidFill>
                  <a:srgbClr val="F0F6FC"/>
                </a:solidFill>
              </a:rPr>
              <a:t>Secure Bearer extension tokens.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ENGINEERING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In-Depth Implementation: Editor AST &amp; Runtime 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How we extracted editor code safely across three competitive programming platforms and desktop 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7315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4805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Overcoming Browser Sandbox Isolation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The Challenge: </a:t>
            </a:r>
            <a:r>
              <a:rPr b="0" sz="1400">
                <a:solidFill>
                  <a:srgbClr val="F0F6FC"/>
                </a:solidFill>
              </a:rPr>
              <a:t>Modern web platforms isolate editor state inside window objects unreachable by standard content scripts.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Monaco Hook (LeetCode): </a:t>
            </a:r>
            <a:r>
              <a:rPr b="0" sz="1400">
                <a:solidFill>
                  <a:srgbClr val="F0F6FC"/>
                </a:solidFill>
              </a:rPr>
              <a:t>We inject an in-page runtime bridge directly into window.monaco.editor.getModels() to read exact buffer AST without relying on fragile DOM scraping.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Ace &amp; CodeMirror: </a:t>
            </a:r>
            <a:r>
              <a:rPr b="0" sz="1400">
                <a:solidFill>
                  <a:srgbClr val="F0F6FC"/>
                </a:solidFill>
              </a:rPr>
              <a:t>Custom bridge hooks attach directly to window.ace and CodeMirror editor instances on GeeksforGeeks and HackerRank.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Shadow DOM Slide-Over: </a:t>
            </a:r>
            <a:r>
              <a:rPr b="0" sz="1400">
                <a:solidFill>
                  <a:srgbClr val="F0F6FC"/>
                </a:solidFill>
              </a:rPr>
              <a:t>Review drawer renders inside an isolated Shadow DOM container, guaranteeing zero CSS collisions with host websites.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120640" cy="7315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4805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VS Code Extension Architecture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Native Editor Access: </a:t>
            </a:r>
            <a:r>
              <a:rPr b="0" sz="1400">
                <a:solidFill>
                  <a:srgbClr val="F0F6FC"/>
                </a:solidFill>
              </a:rPr>
              <a:t>Captures active selection or entire document via vscode.window.activeTextEditor in real time.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Interactive Webview: </a:t>
            </a:r>
            <a:r>
              <a:rPr b="0" sz="1400">
                <a:solidFill>
                  <a:srgbClr val="F0F6FC"/>
                </a:solidFill>
              </a:rPr>
              <a:t>Renders an embedded dark-themed UI panel in the VS Code Activity Bar with live hint reveal toggles.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One-Click Code Insertion: </a:t>
            </a:r>
            <a:r>
              <a:rPr b="0" sz="1400">
                <a:solidFill>
                  <a:srgbClr val="F0F6FC"/>
                </a:solidFill>
              </a:rPr>
              <a:t>Includes an 'Insert in Editor' command that replaces the user buffer with optimal reference code on request.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Universal Language Support: </a:t>
            </a:r>
            <a:r>
              <a:rPr b="0" sz="1400">
                <a:solidFill>
                  <a:srgbClr val="F0F6FC"/>
                </a:solidFill>
              </a:rPr>
              <a:t>Accurately parses Python, Java, C++, TypeScript, Go, and Rust problem statements and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PEDAGOGICAL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The 4-Pillar Algorithmic Rubric &amp; Hint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Moving away from simplistic execution time to holistic algorithmic craftsmanship.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7315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4805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The Calibrated 100-Point Rubric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🧠 Algorithmic Optimality (35 pts): </a:t>
            </a:r>
            <a:r>
              <a:rPr b="0" sz="1400">
                <a:solidFill>
                  <a:srgbClr val="F0F6FC"/>
                </a:solidFill>
              </a:rPr>
              <a:t>Evaluates whether you selected the mathematically optimal paradigm (e.g. Hash Map vs. Sorting vs. Dynamic Programming).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⏱️ Time Complexity (25 pts): </a:t>
            </a:r>
            <a:r>
              <a:rPr b="0" sz="1400">
                <a:solidFill>
                  <a:srgbClr val="F0F6FC"/>
                </a:solidFill>
              </a:rPr>
              <a:t>Calculates Big-O distance between your approach and the theoretical lower bound.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💾 Space Complexity (20 pts): </a:t>
            </a:r>
            <a:r>
              <a:rPr b="0" sz="1400">
                <a:solidFill>
                  <a:srgbClr val="F0F6FC"/>
                </a:solidFill>
              </a:rPr>
              <a:t>Evaluates auxiliary heap and stack allocations vs. in-place pointer mutations.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🧹 Cleanliness &amp; Edge Cases (20 pts): </a:t>
            </a:r>
            <a:r>
              <a:rPr b="0" sz="1400">
                <a:solidFill>
                  <a:srgbClr val="F0F6FC"/>
                </a:solidFill>
              </a:rPr>
              <a:t>Checks variable naming, guard clauses, empty inputs, single elements, and integer overflow handling.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120640" cy="73152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4805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3-Tier Socratic Progressive Hints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Tier 1 - Structural Invariant: </a:t>
            </a:r>
            <a:r>
              <a:rPr b="0" sz="1400">
                <a:solidFill>
                  <a:srgbClr val="F0F6FC"/>
                </a:solidFill>
              </a:rPr>
              <a:t>Gives a subtle nudge without naming algorithms. Example: 'Notice that elements are already sorted in ascending order.'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Tier 2 - Pattern Suggestion: </a:t>
            </a:r>
            <a:r>
              <a:rPr b="0" sz="1400">
                <a:solidFill>
                  <a:srgbClr val="F0F6FC"/>
                </a:solidFill>
              </a:rPr>
              <a:t>Suggests the applicable data structure or mental model. Example: 'Consider using a two-pointer inward scan from both ends.'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Tier 3 - Concrete Blueprint: </a:t>
            </a:r>
            <a:r>
              <a:rPr b="0" sz="1400">
                <a:solidFill>
                  <a:srgbClr val="F0F6FC"/>
                </a:solidFill>
              </a:rPr>
              <a:t>Explains the exact state transitions step-by-step without giving away code, preserving the 'Aha!' moment for the student.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SKILL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14-Paradigm Competency Matrix &amp; Forgetting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Going beyond generic tags like 'Array' to diagnose exact algorithmic mental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7315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4805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14 Foundational Interview Archetypes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Diagnostic Mapping: </a:t>
            </a:r>
            <a:r>
              <a:rPr b="0" sz="1400">
                <a:solidFill>
                  <a:srgbClr val="F0F6FC"/>
                </a:solidFill>
              </a:rPr>
              <a:t>Tracks Two Pointers, Sliding Window, Monotonic Stack, In-place Reversal, Fast &amp; Slow Pointers, Two Heaps, Subsets, Binary Search, Top K, Knapsack, and Graph BFS/DFS.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Blind-Spot Detection: </a:t>
            </a:r>
            <a:r>
              <a:rPr b="0" sz="1400">
                <a:solidFill>
                  <a:srgbClr val="F0F6FC"/>
                </a:solidFill>
              </a:rPr>
              <a:t>Identifies patterns where your scores drop below 60% or patterns you haven't touched in weeks.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Readiness Gauge (0-100%): </a:t>
            </a:r>
            <a:r>
              <a:rPr b="0" sz="1400">
                <a:solidFill>
                  <a:srgbClr val="F0F6FC"/>
                </a:solidFill>
              </a:rPr>
              <a:t>Computes an empirical FAANG/Tier-1 interview readiness index updated with every submission.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120640" cy="7315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4805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Ebbinghaus Spaced Repetition Engine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The Decay Formula: </a:t>
            </a:r>
            <a:r>
              <a:rPr b="0" sz="1400">
                <a:solidFill>
                  <a:srgbClr val="F0F6FC"/>
                </a:solidFill>
              </a:rPr>
              <a:t>Decay % = min(100, Days Elapsed × 16 - Score Bonus). Models how fast memories fade without deliberate recall.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Urgency Tiers: </a:t>
            </a:r>
            <a:r>
              <a:rPr b="0" sz="1400">
                <a:solidFill>
                  <a:srgbClr val="F0F6FC"/>
                </a:solidFill>
              </a:rPr>
              <a:t>Automatically classifies solved problems into: Due Today (≥65% decay), Upcoming (30-64%), and Mastered (&lt;30%).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Targeted Repetition: </a:t>
            </a:r>
            <a:r>
              <a:rPr b="0" sz="1400">
                <a:solidFill>
                  <a:srgbClr val="F0F6FC"/>
                </a:solidFill>
              </a:rPr>
              <a:t>Prompts you to re-solve key patterns right before memory extinction occurs, locking concepts into long-term memory.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ADVANCED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Senior Follow-Up Curveballs &amp; Verified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Preparing candidates for real senior interview scenarios and showcasing verifiable proof of competency.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73152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4805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Senior Interviewer Follow-Up Curveballs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EA4335"/>
                </a:solidFill>
              </a:rPr>
              <a:t>Beyond Simple Code: </a:t>
            </a:r>
            <a:r>
              <a:rPr b="0" sz="1400">
                <a:solidFill>
                  <a:srgbClr val="F0F6FC"/>
                </a:solidFill>
              </a:rPr>
              <a:t>In real senior interviews, passing the problem is only step one. Interviewers immediately throw scale and constraint curveballs.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EA4335"/>
                </a:solidFill>
              </a:rPr>
              <a:t>Scale Variations: </a:t>
            </a:r>
            <a:r>
              <a:rPr b="0" sz="1400">
                <a:solidFill>
                  <a:srgbClr val="F0F6FC"/>
                </a:solidFill>
              </a:rPr>
              <a:t>'What if the dataset contains 10¹² elements and exceeds single-machine RAM?' -&gt; Explores distributed sharding and disk streams.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EA4335"/>
                </a:solidFill>
              </a:rPr>
              <a:t>Constraint Inversions: </a:t>
            </a:r>
            <a:r>
              <a:rPr b="0" sz="1400">
                <a:solidFill>
                  <a:srgbClr val="F0F6FC"/>
                </a:solidFill>
              </a:rPr>
              <a:t>'Can you solve this with strict O(1) space without modifying the input array?' -&gt; Explores bit manipulation and cycles.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EA4335"/>
                </a:solidFill>
              </a:rPr>
              <a:t>Interactive Model Answers: </a:t>
            </a:r>
            <a:r>
              <a:rPr b="0" sz="1400">
                <a:solidFill>
                  <a:srgbClr val="F0F6FC"/>
                </a:solidFill>
              </a:rPr>
              <a:t>Includes collapsible senior engineering reference architectures for every challenge.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120640" cy="7315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4805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Cryptographic / Public Verified Transcript (/verify)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Zero Token Exposure: </a:t>
            </a:r>
            <a:r>
              <a:rPr b="0" sz="1400">
                <a:solidFill>
                  <a:srgbClr val="F0F6FC"/>
                </a:solidFill>
              </a:rPr>
              <a:t>Generates a clean public proof-of-work transcript that developers can link on resumes and LinkedIn without exposing secret tokens.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Verifiable Metrics: </a:t>
            </a:r>
            <a:r>
              <a:rPr b="0" sz="1400">
                <a:solidFill>
                  <a:srgbClr val="F0F6FC"/>
                </a:solidFill>
              </a:rPr>
              <a:t>Displays 16-week activity heatmap, interview readiness score, and paradigm competencies.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Recruiter Confidence: </a:t>
            </a:r>
            <a:r>
              <a:rPr b="0" sz="1400">
                <a:solidFill>
                  <a:srgbClr val="F0F6FC"/>
                </a:solidFill>
              </a:rPr>
              <a:t>Gives hiring managers and bootcamp mentors authentic proof of consistent problem-solving.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The Complete 3-Minute Live Demo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A flawless sequence to showcase the entire platform during tomorrow's presentation.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7315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6517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Step 1: The Browser Extension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Open LeetCode/GFG: </a:t>
            </a:r>
            <a:r>
              <a:rPr b="0" sz="1400">
                <a:solidFill>
                  <a:srgbClr val="F0F6FC"/>
                </a:solidFill>
              </a:rPr>
              <a:t>Navigate to Kadane's Algorithm on GFG or Two Sum on LeetCode.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In-Page Widget: </a:t>
            </a:r>
            <a:r>
              <a:rPr b="0" sz="1400">
                <a:solidFill>
                  <a:srgbClr val="F0F6FC"/>
                </a:solidFill>
              </a:rPr>
              <a:t>Show the floating AlgoPulse badge and click 'Analyze Code'.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4-Pillar Feedback: </a:t>
            </a:r>
            <a:r>
              <a:rPr b="0" sz="1400">
                <a:solidFill>
                  <a:srgbClr val="F0F6FC"/>
                </a:solidFill>
              </a:rPr>
              <a:t>Walk through the Optimality, Time, Space, and Cleanliness scores.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Progressive Hints: </a:t>
            </a:r>
            <a:r>
              <a:rPr b="0" sz="1400">
                <a:solidFill>
                  <a:srgbClr val="F0F6FC"/>
                </a:solidFill>
              </a:rPr>
              <a:t>Click 'Reveal Tier 1 Observation' to show Socratic coaching.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291840" cy="73152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86000"/>
            <a:ext cx="26517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Step 2: The VS Code Extension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Open VS Code: </a:t>
            </a:r>
            <a:r>
              <a:rPr b="0" sz="1400">
                <a:solidFill>
                  <a:srgbClr val="F0F6FC"/>
                </a:solidFill>
              </a:rPr>
              <a:t>Show local editor with a solution file (solution.py).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Run Hotkey: </a:t>
            </a:r>
            <a:r>
              <a:rPr b="0" sz="1400">
                <a:solidFill>
                  <a:srgbClr val="F0F6FC"/>
                </a:solidFill>
              </a:rPr>
              <a:t>Press Ctrl+Alt+A or click 'AlgoPulse' in the Activity Bar.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Instant Analysis: </a:t>
            </a:r>
            <a:r>
              <a:rPr b="0" sz="1400">
                <a:solidFill>
                  <a:srgbClr val="F0F6FC"/>
                </a:solidFill>
              </a:rPr>
              <a:t>Highlight how the same 4-pillar review appears inside the desktop IDE.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Insert Reference Code: </a:t>
            </a:r>
            <a:r>
              <a:rPr b="0" sz="1400">
                <a:solidFill>
                  <a:srgbClr val="F0F6FC"/>
                </a:solidFill>
              </a:rPr>
              <a:t>Demonstrate 1-click insertion of optimal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918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7315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26517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Step 3: Web Dashboard Sync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Switch to Dashboard: </a:t>
            </a:r>
            <a:r>
              <a:rPr b="0" sz="1400">
                <a:solidFill>
                  <a:srgbClr val="F0F6FC"/>
                </a:solidFill>
              </a:rPr>
              <a:t>Open http://localhost:3000/dashboard.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User Isolation: </a:t>
            </a:r>
            <a:r>
              <a:rPr b="0" sz="1400">
                <a:solidFill>
                  <a:srgbClr val="F0F6FC"/>
                </a:solidFill>
              </a:rPr>
              <a:t>Authenticated personal dashboard — zero mock data for new users.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14-Paradigm Radar: </a:t>
            </a:r>
            <a:r>
              <a:rPr b="0" sz="1400">
                <a:solidFill>
                  <a:srgbClr val="F0F6FC"/>
                </a:solidFill>
              </a:rPr>
              <a:t>Show dynamic paradigm counts and interview readiness score.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Public Transcript: </a:t>
            </a:r>
            <a:r>
              <a:rPr b="0" sz="1400">
                <a:solidFill>
                  <a:srgbClr val="F0F6FC"/>
                </a:solidFill>
              </a:rPr>
              <a:t>Click 'Verify' to show the shareable recruiter transcript.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FEASIBILITY &amp;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100% Free-Tier Architecture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Engineered from day one to operate with zero infrastructure cost and infinite accessibility.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7315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4805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100% Free-Tier Technology Stack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AI Intelligence: </a:t>
            </a:r>
            <a:r>
              <a:rPr b="0" sz="1400">
                <a:solidFill>
                  <a:srgbClr val="F0F6FC"/>
                </a:solidFill>
              </a:rPr>
              <a:t>Google Gemini Flash API via dynamic ListModels discovery (Gemini 3.7/3.6/3.8 Flash).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Web Application: </a:t>
            </a:r>
            <a:r>
              <a:rPr b="0" sz="1400">
                <a:solidFill>
                  <a:srgbClr val="F0F6FC"/>
                </a:solidFill>
              </a:rPr>
              <a:t>Next.js 14 App Router deployed locally or on Vercel Hobby (100% free).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Database Layer: </a:t>
            </a:r>
            <a:r>
              <a:rPr b="0" sz="1400">
                <a:solidFill>
                  <a:srgbClr val="F0F6FC"/>
                </a:solidFill>
              </a:rPr>
              <a:t>Supabase PostgreSQL free tier (500MB) with offline local JSON mirroring.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Extensions: </a:t>
            </a:r>
            <a:r>
              <a:rPr b="0" sz="1400">
                <a:solidFill>
                  <a:srgbClr val="F0F6FC"/>
                </a:solidFill>
              </a:rPr>
              <a:t>Chrome Manifest V3 and VS Code Ext API (distributed freely without app store fees).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120640" cy="7315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4805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Who Benefits from AlgoPulse?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Individual Engineers: </a:t>
            </a:r>
            <a:r>
              <a:rPr b="0" sz="1400">
                <a:solidFill>
                  <a:srgbClr val="F0F6FC"/>
                </a:solidFill>
              </a:rPr>
              <a:t>Saves hundreds of hours of directionless grinding and prevents memory loss.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Coding Bootcamps &amp; Universities: </a:t>
            </a:r>
            <a:r>
              <a:rPr b="0" sz="1400">
                <a:solidFill>
                  <a:srgbClr val="F0F6FC"/>
                </a:solidFill>
              </a:rPr>
              <a:t>Automates pedagogical TA reviews with progressive hint scaffolds.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Engineering Hiring: </a:t>
            </a:r>
            <a:r>
              <a:rPr b="0" sz="1400">
                <a:solidFill>
                  <a:srgbClr val="F0F6FC"/>
                </a:solidFill>
              </a:rPr>
              <a:t>Replaces unreliable resume bullet points with verified 16-week proof-of-work portfolios.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Conclusion: Elevating Algorithmic Mastery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Turning algorithmic problem solving into a structured, delightful, and verifiable science.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7315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6517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The Shift in Thinking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From: </a:t>
            </a:r>
            <a:r>
              <a:rPr b="0" sz="1400">
                <a:solidFill>
                  <a:srgbClr val="F0F6FC"/>
                </a:solidFill>
              </a:rPr>
              <a:t>Passing test cases by accident and memorizing solutions.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To: </a:t>
            </a:r>
            <a:r>
              <a:rPr b="0" sz="1400">
                <a:solidFill>
                  <a:srgbClr val="F0F6FC"/>
                </a:solidFill>
              </a:rPr>
              <a:t>Mastering 14 foundational mental models and understanding exact Big-O trade-offs.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4285F4"/>
                </a:solidFill>
              </a:rPr>
              <a:t>Result: </a:t>
            </a:r>
            <a:r>
              <a:rPr b="0" sz="1400">
                <a:solidFill>
                  <a:srgbClr val="F0F6FC"/>
                </a:solidFill>
              </a:rPr>
              <a:t>Confidence in any interview room, regardless of problem variations.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291840" cy="73152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86000"/>
            <a:ext cx="26517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The Power of Workflow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Seamless Flow: </a:t>
            </a:r>
            <a:r>
              <a:rPr b="0" sz="1400">
                <a:solidFill>
                  <a:srgbClr val="F0F6FC"/>
                </a:solidFill>
              </a:rPr>
              <a:t>One unified ecosystem spanning Chrome, VS Code, and Next.js.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Continuous Recall: </a:t>
            </a:r>
            <a:r>
              <a:rPr b="0" sz="1400">
                <a:solidFill>
                  <a:srgbClr val="F0F6FC"/>
                </a:solidFill>
              </a:rPr>
              <a:t>Spaced repetition ensures you never lose what you worked hard to learn.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BBC05"/>
                </a:solidFill>
              </a:rPr>
              <a:t>No Friction: </a:t>
            </a:r>
            <a:r>
              <a:rPr b="0" sz="1400">
                <a:solidFill>
                  <a:srgbClr val="F0F6FC"/>
                </a:solidFill>
              </a:rPr>
              <a:t>Instant evaluation in under 2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91840" cy="4297680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7315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2651760" cy="3886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F0F6FC"/>
                </a:solidFill>
              </a:defRPr>
            </a:pPr>
            <a:r>
              <a:t>Ready Today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Fully Built: </a:t>
            </a:r>
            <a:r>
              <a:rPr b="0" sz="1400">
                <a:solidFill>
                  <a:srgbClr val="F0F6FC"/>
                </a:solidFill>
              </a:rPr>
              <a:t>Dual extensions, 15 Next.js routes, 4-pillar evaluation, and 19 verified API tests.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Production Verified: </a:t>
            </a:r>
            <a:r>
              <a:rPr b="0" sz="1400">
                <a:solidFill>
                  <a:srgbClr val="F0F6FC"/>
                </a:solidFill>
              </a:rPr>
              <a:t>0 type errors, clean REST endpoints, and live syncing.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34A853"/>
                </a:solidFill>
              </a:rPr>
              <a:t>Try It Now: </a:t>
            </a:r>
            <a:r>
              <a:rPr b="0" sz="1400">
                <a:solidFill>
                  <a:srgbClr val="F0F6FC"/>
                </a:solidFill>
              </a:rPr>
              <a:t>Open http://localhost:3000 to see AlgoPulse in action!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